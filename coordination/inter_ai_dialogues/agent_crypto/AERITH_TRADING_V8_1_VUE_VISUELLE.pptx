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AERITH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Vue visuelle globale — De l'idée initiale à l'architecture sécurisée V8.1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0058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200"/>
              <a:t>OBJECTIF</a:t>
            </a:r>
          </a:p>
          <a:p>
            <a:pPr algn="ctr"/>
            <a:r>
              <a:rPr sz="1900"/>
              <a:t>Construire un cerveau de trading algorithmique capable d'analyser, décider, contrôler le risque et piloter des robots sans perdre la maîtrise du capital.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228600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ANALYSER</a:t>
            </a:r>
          </a:p>
          <a:p>
            <a:pPr algn="ctr"/>
            <a:r>
              <a:rPr sz="1300"/>
              <a:t>Marchés &amp; signaux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657600"/>
            <a:ext cx="228600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DÉCIDER</a:t>
            </a:r>
          </a:p>
          <a:p>
            <a:pPr algn="ctr"/>
            <a:r>
              <a:rPr sz="1300"/>
              <a:t>Stratégies &amp; règles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657600"/>
            <a:ext cx="228600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PROTÉGER</a:t>
            </a:r>
          </a:p>
          <a:p>
            <a:pPr algn="ctr"/>
            <a:r>
              <a:rPr sz="1300"/>
              <a:t>Risque &amp; sécurité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657600"/>
            <a:ext cx="228600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EXÉCUTER</a:t>
            </a:r>
          </a:p>
          <a:p>
            <a:pPr algn="ctr"/>
            <a:r>
              <a:rPr sz="1300"/>
              <a:t>Robots &amp;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Document de synthèse humaine — AERITH TRADING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1. L'ÉVOLUTION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Une construction progressive par couches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1</a:t>
            </a:r>
          </a:p>
          <a:p>
            <a:pPr algn="ctr"/>
            <a:r>
              <a:rPr sz="900"/>
              <a:t>Analyse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9384" y="28346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2</a:t>
            </a:r>
          </a:p>
          <a:p>
            <a:pPr algn="ctr"/>
            <a:r>
              <a:rPr sz="900"/>
              <a:t>Math &amp; indicateurs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5304" y="28346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3</a:t>
            </a:r>
          </a:p>
          <a:p>
            <a:pPr algn="ctr"/>
            <a:r>
              <a:rPr sz="900"/>
              <a:t>Risk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1224" y="28346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4</a:t>
            </a:r>
          </a:p>
          <a:p>
            <a:pPr algn="ctr"/>
            <a:r>
              <a:rPr sz="900"/>
              <a:t>Execution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28346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5</a:t>
            </a:r>
          </a:p>
          <a:p>
            <a:pPr algn="ctr"/>
            <a:r>
              <a:rPr sz="900"/>
              <a:t>Connexion externe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8346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6</a:t>
            </a:r>
          </a:p>
          <a:p>
            <a:pPr algn="ctr"/>
            <a:r>
              <a:rPr sz="900"/>
              <a:t>Chaos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8984" y="28346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2468880"/>
            <a:ext cx="1417320" cy="11887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ÉTAPE 7</a:t>
            </a:r>
          </a:p>
          <a:p>
            <a:pPr algn="ctr"/>
            <a:r>
              <a:rPr sz="900"/>
              <a:t>Consolidation V8.1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663440"/>
            <a:ext cx="941832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800"/>
              <a:t>RÉSULTAT</a:t>
            </a:r>
          </a:p>
          <a:p>
            <a:pPr algn="ctr"/>
            <a:r>
              <a:rPr sz="1500"/>
              <a:t>Une architecture gouvernée : aucune stratégie ou IA ne peut contourner les règles de sécurité.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2. LE CERVEAU AERITH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La chaîne principale de décision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03920" cy="566928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SOURCES</a:t>
            </a:r>
          </a:p>
          <a:p>
            <a:pPr algn="ctr"/>
            <a:r>
              <a:rPr sz="1000"/>
              <a:t>Marché • Exchange • IA externe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21408"/>
            <a:ext cx="8503920" cy="566928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SÉCURITÉ</a:t>
            </a:r>
          </a:p>
          <a:p>
            <a:pPr algn="ctr"/>
            <a:r>
              <a:rPr sz="1000"/>
              <a:t>Zero Trust • Validation • Freshness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871215"/>
            <a:ext cx="8503920" cy="566928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INTELLIGENCE</a:t>
            </a:r>
          </a:p>
          <a:p>
            <a:pPr algn="ctr"/>
            <a:r>
              <a:rPr sz="1000"/>
              <a:t>Structure • MA50/200 • Ichimoku • Régime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21024"/>
            <a:ext cx="8503920" cy="566928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QUANT</a:t>
            </a:r>
          </a:p>
          <a:p>
            <a:pPr algn="ctr"/>
            <a:r>
              <a:rPr sz="1000"/>
              <a:t>Confluence • Sizing • Drawdown • Monte Carlo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70831"/>
            <a:ext cx="8503920" cy="566928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RISK GOVERNOR</a:t>
            </a:r>
          </a:p>
          <a:p>
            <a:pPr algn="ctr"/>
            <a:r>
              <a:rPr sz="1000"/>
              <a:t>Exposition • Corrélation • Limites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120640"/>
            <a:ext cx="8503920" cy="566928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EXECUTION</a:t>
            </a:r>
          </a:p>
          <a:p>
            <a:pPr algn="ctr"/>
            <a:r>
              <a:rPr sz="1000"/>
              <a:t>Ordres • Stops •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3. LA HIÉRARCHIE DES RÈGLES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Une règle inférieure ne peut jamais contourner une règle supérieure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0</a:t>
            </a:r>
          </a:p>
          <a:p>
            <a:pPr algn="ctr"/>
            <a:r>
              <a:rPr sz="900"/>
              <a:t>CAPITAL SURVIVAL
Protection absolue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1</a:t>
            </a:r>
          </a:p>
          <a:p>
            <a:pPr algn="ctr"/>
            <a:r>
              <a:rPr sz="900"/>
              <a:t>SYSTEM INTEGRITY
État système connu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2</a:t>
            </a:r>
          </a:p>
          <a:p>
            <a:pPr algn="ctr"/>
            <a:r>
              <a:rPr sz="900"/>
              <a:t>SECURITY &amp; IDENTITY
Connexions contrôlées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79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3</a:t>
            </a:r>
          </a:p>
          <a:p>
            <a:pPr algn="ctr"/>
            <a:r>
              <a:rPr sz="900"/>
              <a:t>DATA INTEGRITY
Données fiables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4</a:t>
            </a:r>
          </a:p>
          <a:p>
            <a:pPr algn="ctr"/>
            <a:r>
              <a:rPr sz="900"/>
              <a:t>PORTFOLIO RISK
Risque 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5</a:t>
            </a:r>
          </a:p>
          <a:p>
            <a:pPr algn="ctr"/>
            <a:r>
              <a:rPr sz="900"/>
              <a:t>STRATEGY VALIDATION
Qualité de la stratégie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19" y="2103120"/>
            <a:ext cx="1371600" cy="2103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6</a:t>
            </a:r>
          </a:p>
          <a:p>
            <a:pPr algn="ctr"/>
            <a:r>
              <a:rPr sz="900"/>
              <a:t>EXECUTION
Passage des ordres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5029200"/>
            <a:ext cx="841248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700"/>
              <a:t>PRINCIPE CLÉ</a:t>
            </a:r>
          </a:p>
          <a:p>
            <a:pPr algn="ctr"/>
            <a:r>
              <a:rPr sz="1400"/>
              <a:t>Un excellent signal est refusé si une couche supérieure détecte un danger.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4. DATA TRUST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Avant d'analyser : peut-on faire confiance aux données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874519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SOURCE</a:t>
            </a:r>
          </a:p>
          <a:p>
            <a:pPr algn="ctr"/>
            <a:r>
              <a:rPr sz="1100"/>
              <a:t>Origine connue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874519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TIMESTAMP</a:t>
            </a:r>
          </a:p>
          <a:p>
            <a:pPr algn="ctr"/>
            <a:r>
              <a:rPr sz="1100"/>
              <a:t>Donnée récente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828800"/>
            <a:ext cx="1874519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LATENCE</a:t>
            </a:r>
          </a:p>
          <a:p>
            <a:pPr algn="ctr"/>
            <a:r>
              <a:rPr sz="1100"/>
              <a:t>Délai acceptable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1874519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COHÉRENCE</a:t>
            </a:r>
          </a:p>
          <a:p>
            <a:pPr algn="ctr"/>
            <a:r>
              <a:rPr sz="1100"/>
              <a:t>Cross-check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0"/>
            <a:ext cx="1874519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CONFIANCE</a:t>
            </a:r>
          </a:p>
          <a:p>
            <a:pPr algn="ctr"/>
            <a:r>
              <a:rPr sz="1100"/>
              <a:t>Score final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21031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VALID</a:t>
            </a:r>
          </a:p>
          <a:p>
            <a:pPr algn="ctr"/>
            <a:r>
              <a:rPr sz="1200"/>
              <a:t>Trading normal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840480"/>
            <a:ext cx="21031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DEGRADED</a:t>
            </a:r>
          </a:p>
          <a:p>
            <a:pPr algn="ctr"/>
            <a:r>
              <a:rPr sz="1200"/>
              <a:t>Risque réduit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1031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STALE</a:t>
            </a:r>
          </a:p>
          <a:p>
            <a:pPr algn="ctr"/>
            <a:r>
              <a:rPr sz="1200"/>
              <a:t>Nouveaux trades bloqués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840480"/>
            <a:ext cx="21031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INVALID</a:t>
            </a:r>
          </a:p>
          <a:p>
            <a:pPr algn="ctr"/>
            <a:r>
              <a:rPr sz="1200"/>
              <a:t>Trading stoppé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5. INTELLIGENCE DE MARCHÉ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Les indicateurs sont des composants, pas des boutons d'achat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063240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MA50 / MA200</a:t>
            </a:r>
          </a:p>
          <a:p>
            <a:pPr algn="ctr"/>
            <a:r>
              <a:rPr sz="1200"/>
              <a:t>Tendance &amp;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645920"/>
            <a:ext cx="3063240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ICHIMOKU</a:t>
            </a:r>
          </a:p>
          <a:p>
            <a:pPr algn="ctr"/>
            <a:r>
              <a:rPr sz="1200"/>
              <a:t>Contexte &amp; confluence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3063240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MULTI-TIMEFRAME</a:t>
            </a:r>
          </a:p>
          <a:p>
            <a:pPr algn="ctr"/>
            <a:r>
              <a:rPr sz="1200"/>
              <a:t>Alignement des horizons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3063240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VOLUME</a:t>
            </a:r>
          </a:p>
          <a:p>
            <a:pPr algn="ctr"/>
            <a:r>
              <a:rPr sz="1200"/>
              <a:t>Confirmation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474720"/>
            <a:ext cx="3063240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VOLATILITÉ</a:t>
            </a:r>
          </a:p>
          <a:p>
            <a:pPr algn="ctr"/>
            <a:r>
              <a:rPr sz="1200"/>
              <a:t>Régime &amp; danger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474720"/>
            <a:ext cx="3063240" cy="12344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MARKET STRUCTURE</a:t>
            </a:r>
          </a:p>
          <a:p>
            <a:pPr algn="ctr"/>
            <a:r>
              <a:rPr sz="1200"/>
              <a:t>Supports, tendances, ruptures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486400"/>
            <a:ext cx="8503920" cy="6400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700"/>
              <a:t>RÈGLE</a:t>
            </a:r>
          </a:p>
          <a:p>
            <a:pPr algn="ctr"/>
            <a:r>
              <a:rPr sz="1400"/>
              <a:t>Aucun indicateur isolé ne peut autoriser un trade réel.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6. RISK GOVERNOR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Un seul cerveau central pour contrôler le risque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Trade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4592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Position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Asset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4592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Strategy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Correlation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06324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Daily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63240"/>
            <a:ext cx="2240280" cy="9601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Global Drawdown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846320"/>
            <a:ext cx="640080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800"/>
              <a:t>CAPITAL FIREWALL</a:t>
            </a:r>
          </a:p>
          <a:p>
            <a:pPr algn="ctr"/>
            <a:r>
              <a:rPr sz="1500"/>
              <a:t>Une bonne stratégie ne peut jamais engager librement tout le capital.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7. EXÉCUTION SÉCURISÉE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L'intention n'est jamais confondue avec la réalité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TRADE INTENT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RISK APPROVED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9896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ORDER SUBMITTED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4104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EXCHANGE 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68312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PARTIAL /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19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RECONCILED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96728" y="2377440"/>
            <a:ext cx="1417320" cy="10972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PROTECTED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572000"/>
            <a:ext cx="996696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700"/>
              <a:t>RÈGLE ABSOLUE</a:t>
            </a:r>
          </a:p>
          <a:p>
            <a:pPr algn="ctr"/>
            <a:r>
              <a:rPr sz="1400"/>
              <a:t>REALITY OVERRIDES INTENTION — l'état réel de l'exchange prévaut toujours.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8. CONNEXION FUTURE À UNE IA / PLATEFORME EXTERNE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Architecture Zero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645920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IA EXTERNE</a:t>
            </a:r>
          </a:p>
          <a:p>
            <a:pPr algn="ctr"/>
            <a:r>
              <a:rPr sz="900"/>
              <a:t>Propose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04872" y="2057400"/>
            <a:ext cx="1645920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SIGNAL QUARANTINE</a:t>
            </a:r>
          </a:p>
          <a:p>
            <a:pPr algn="ctr"/>
            <a:r>
              <a:rPr sz="900"/>
              <a:t>Isole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2057400"/>
            <a:ext cx="1645920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AERITH</a:t>
            </a:r>
          </a:p>
          <a:p>
            <a:pPr algn="ctr"/>
            <a:r>
              <a:rPr sz="900"/>
              <a:t>Vérifie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057400"/>
            <a:ext cx="1645920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RISK GATE</a:t>
            </a:r>
          </a:p>
          <a:p>
            <a:pPr algn="ctr"/>
            <a:r>
              <a:rPr sz="900"/>
              <a:t>Autorise / refuse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8" y="2057400"/>
            <a:ext cx="1645920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EXECUTION</a:t>
            </a:r>
          </a:p>
          <a:p>
            <a:pPr algn="ctr"/>
            <a:r>
              <a:rPr sz="900"/>
              <a:t>Exécute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2057400"/>
            <a:ext cx="1645920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EXCHANGE</a:t>
            </a:r>
          </a:p>
          <a:p>
            <a:pPr algn="ctr"/>
            <a:r>
              <a:rPr sz="900"/>
              <a:t>État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54880"/>
            <a:ext cx="841248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/>
              <a:t>PRINCIPE</a:t>
            </a:r>
          </a:p>
          <a:p>
            <a:pPr algn="ctr"/>
            <a:r>
              <a:rPr sz="1700"/>
              <a:t>EXTERNAL AI CAN PROPOSE — NOT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9. CYBERSÉCURITÉ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La connexion elle-même est considérée comme un risque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06324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Permissions minimales</a:t>
            </a:r>
          </a:p>
          <a:p>
            <a:pPr algn="ctr"/>
            <a:r>
              <a:rPr sz="1200"/>
              <a:t>Retrait interdit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554480"/>
            <a:ext cx="306324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Clés séparées</a:t>
            </a:r>
          </a:p>
          <a:p>
            <a:pPr algn="ctr"/>
            <a:r>
              <a:rPr sz="1200"/>
              <a:t>Dev / Paper /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54480"/>
            <a:ext cx="306324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IP Allowlist</a:t>
            </a:r>
          </a:p>
          <a:p>
            <a:pPr algn="ctr"/>
            <a:r>
              <a:rPr sz="1200"/>
              <a:t>Accès limité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306324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Secret Vault</a:t>
            </a:r>
          </a:p>
          <a:p>
            <a:pPr algn="ctr"/>
            <a:r>
              <a:rPr sz="1200"/>
              <a:t>Secrets isolés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474720"/>
            <a:ext cx="306324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Key Rotation</a:t>
            </a:r>
          </a:p>
          <a:p>
            <a:pPr algn="ctr"/>
            <a:r>
              <a:rPr sz="1200"/>
              <a:t>Renouvellement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474720"/>
            <a:ext cx="3063240" cy="12801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Audit</a:t>
            </a:r>
          </a:p>
          <a:p>
            <a:pPr algn="ctr"/>
            <a:r>
              <a:rPr sz="1200"/>
              <a:t>Traçabilité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5394960"/>
            <a:ext cx="8321040" cy="5943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REJET AUTOMATIQUE</a:t>
            </a:r>
          </a:p>
          <a:p>
            <a:pPr algn="ctr"/>
            <a:r>
              <a:rPr sz="1100"/>
              <a:t>Une connexion avec permission de retrait ne doit pas être utilisée pour le trading autonome.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10. KILL SWITCH &amp; MODES D'URGENCE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Le système sait s'arrêter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331720" cy="14630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PAUSE</a:t>
            </a:r>
          </a:p>
          <a:p>
            <a:pPr algn="ctr"/>
            <a:r>
              <a:rPr sz="1300"/>
              <a:t>Stop nouveaux trades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2103120"/>
            <a:ext cx="2331720" cy="14630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DEFENSIVE</a:t>
            </a:r>
          </a:p>
          <a:p>
            <a:pPr algn="ctr"/>
            <a:r>
              <a:rPr sz="1300"/>
              <a:t>Réduire risque + vérifier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103120"/>
            <a:ext cx="2331720" cy="14630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EMERGENCY</a:t>
            </a:r>
          </a:p>
          <a:p>
            <a:pPr algn="ctr"/>
            <a:r>
              <a:rPr sz="1300"/>
              <a:t>Isoler + réconcilier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59" y="2103120"/>
            <a:ext cx="2331720" cy="146304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HALTED</a:t>
            </a:r>
          </a:p>
          <a:p>
            <a:pPr algn="ctr"/>
            <a:r>
              <a:rPr sz="1300"/>
              <a:t>Arrêt contrôlé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754880"/>
            <a:ext cx="841248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500"/>
              <a:t>DÉCLENCHEURS</a:t>
            </a:r>
          </a:p>
          <a:p>
            <a:pPr algn="ctr"/>
            <a:r>
              <a:rPr sz="1200"/>
              <a:t>Perte excessive • données invalides • API anormale • divergence compte • connexion perdue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11. CHAOS &amp; ADVERSARIAL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Avant le réel, on essaie volontairement de casser le système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Fausses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Données obsolètes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41732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API timeout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19" y="141732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Double ordre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Partial fill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65176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Stop absent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65176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Crash marché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265176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IA compromise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Perte connexion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88620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Restart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88620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Retry infini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3886200"/>
            <a:ext cx="2423160" cy="8229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200"/>
              <a:t>Conflit robots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394960"/>
            <a:ext cx="8503920" cy="6858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OBJECTIF</a:t>
            </a:r>
          </a:p>
          <a:p>
            <a:pPr algn="ctr"/>
            <a:r>
              <a:rPr sz="1300"/>
              <a:t>Vérifier que le système choisit la sécurité plutôt que de continuer à deviner.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12. CERTIFICATION AVANT PASSAGE EN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Aucune stratégie ne doit passer directement du backtest au capital réel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1</a:t>
            </a:r>
          </a:p>
          <a:p>
            <a:pPr algn="ctr"/>
            <a:r>
              <a:rPr sz="800"/>
              <a:t>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6304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2</a:t>
            </a:r>
          </a:p>
          <a:p>
            <a:pPr algn="ctr"/>
            <a:r>
              <a:rPr sz="800"/>
              <a:t>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6304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3</a:t>
            </a:r>
          </a:p>
          <a:p>
            <a:pPr algn="ctr"/>
            <a:r>
              <a:rPr sz="800"/>
              <a:t>Backtest Realism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4</a:t>
            </a:r>
          </a:p>
          <a:p>
            <a:pPr algn="ctr"/>
            <a:r>
              <a:rPr sz="800"/>
              <a:t>Out-of-Sample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6304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5</a:t>
            </a:r>
          </a:p>
          <a:p>
            <a:pPr algn="ctr"/>
            <a:r>
              <a:rPr sz="800"/>
              <a:t>Walk Forward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6</a:t>
            </a:r>
          </a:p>
          <a:p>
            <a:pPr algn="ctr"/>
            <a:r>
              <a:rPr sz="800"/>
              <a:t>Monte Carlo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78892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7</a:t>
            </a:r>
          </a:p>
          <a:p>
            <a:pPr algn="ctr"/>
            <a:r>
              <a:rPr sz="800"/>
              <a:t>Chaos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78892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8</a:t>
            </a:r>
          </a:p>
          <a:p>
            <a:pPr algn="ctr"/>
            <a:r>
              <a:rPr sz="800"/>
              <a:t>Paper Trading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88920"/>
            <a:ext cx="192024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100"/>
              <a:t>GATE 9</a:t>
            </a:r>
          </a:p>
          <a:p>
            <a:pPr algn="ctr"/>
            <a:r>
              <a:rPr sz="800"/>
              <a:t>Micro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937760"/>
            <a:ext cx="8503920" cy="73152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600"/>
              <a:t>CERTIFICAT EXPIRABLE</a:t>
            </a:r>
          </a:p>
          <a:p>
            <a:pPr algn="ctr"/>
            <a:r>
              <a:rPr sz="1300"/>
              <a:t>Une stratégie doit être revalidée après dérive, changement de marché ou modification.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13. MINIMUM SAFE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Même si l'intelligence avancée tombe, la sécurité doit survivre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1874519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DATA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920240"/>
            <a:ext cx="1874519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POSITION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920240"/>
            <a:ext cx="1874519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RISK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920240"/>
            <a:ext cx="1874519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PROTECTION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920240"/>
            <a:ext cx="1874519" cy="132588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300"/>
              <a:t>KILL 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572000"/>
            <a:ext cx="914400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700"/>
              <a:t>MODE DÉGRADÉ</a:t>
            </a:r>
          </a:p>
          <a:p>
            <a:pPr algn="ctr"/>
            <a:r>
              <a:rPr sz="1400"/>
              <a:t>Pas de nouveaux trades autonomes • positions existantes vérifiées et protégées.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Architecture V8.1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14. OÙ NOUS EN SOMMES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AERITH V8.1 — Architecture consolidée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900"/>
              <a:t>AUJOURD'HUI</a:t>
            </a:r>
          </a:p>
          <a:p>
            <a:pPr algn="ctr"/>
            <a:r>
              <a:rPr sz="1600"/>
              <a:t>Une architecture conceptuelle complète de gouvernance, risque, sécurité et exécution.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14. OÙ NOUS EN SOMMES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AERITH V8.1 — Architecture consolidée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9144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900"/>
              <a:t>AUJOURD'HUI</a:t>
            </a:r>
          </a:p>
          <a:p>
            <a:pPr algn="ctr"/>
            <a:r>
              <a:rPr sz="1600"/>
              <a:t>Une architecture conceptuelle complète de gouvernance, risque, sécurité et exécution.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2286000" cy="15087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1</a:t>
            </a:r>
          </a:p>
          <a:p>
            <a:pPr algn="ctr"/>
            <a:r>
              <a:rPr sz="1100"/>
              <a:t>RULEBOOK V1
Constitution technique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926080"/>
            <a:ext cx="2286000" cy="15087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2</a:t>
            </a:r>
          </a:p>
          <a:p>
            <a:pPr algn="ctr"/>
            <a:r>
              <a:rPr sz="1100"/>
              <a:t>V8.1
Architecture consolidée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2286000" cy="15087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3</a:t>
            </a:r>
          </a:p>
          <a:p>
            <a:pPr algn="ctr"/>
            <a:r>
              <a:rPr sz="1100"/>
              <a:t>CERTIFICATION
Avant le réel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926080"/>
            <a:ext cx="2286000" cy="150876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1400"/>
              <a:t>4</a:t>
            </a:r>
          </a:p>
          <a:p>
            <a:pPr algn="ctr"/>
            <a:r>
              <a:rPr sz="1100"/>
              <a:t>NEXT
Prototype exécutable + sandbox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303520"/>
            <a:ext cx="9784080" cy="685800"/>
          </a:xfrm>
          <a:prstGeom prst="roundRect">
            <a:avLst/>
          </a:prstGeom>
          <a:noFill/>
          <a:ln w="1524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/>
              <a:t>PHILOSOPHIE FINALE</a:t>
            </a:r>
          </a:p>
          <a:p>
            <a:pPr algn="ctr"/>
            <a:r>
              <a:rPr sz="1700"/>
              <a:t>CAPITAL SURVIVAL BEFORE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/>
              <a:t>AERITH TRADING — Synthèse visuelle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